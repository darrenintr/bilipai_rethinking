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FB7299">
              <a:alpha val="20000"/>
            </a:srgbClr>
          </a:solidFill>
          <a:ln w="12700">
            <a:solidFill>
              <a:srgbClr val="FB72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2377440"/>
            <a:ext cx="3657600" cy="3657600"/>
          </a:xfrm>
          <a:prstGeom prst="ellipse">
            <a:avLst/>
          </a:prstGeom>
          <a:solidFill>
            <a:srgbClr val="4FC1E9">
              <a:alpha val="15000"/>
            </a:srgbClr>
          </a:solidFill>
          <a:ln w="12700">
            <a:solidFill>
              <a:srgbClr val="4FC1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914400"/>
            <a:ext cx="1828800" cy="18288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PALADALA  /  iOS  / 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spc="-300" kern="0" dirty="0">
                <a:solidFill>
                  <a:srgbClr val="F5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Paladala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914400" cy="54864"/>
          </a:xfrm>
          <a:prstGeom prst="rect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重新设计的 iOS B 站第三方客户端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SwiftUI  /  Liquid Glass  /  Public Bilibili API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36576" cy="182880"/>
          </a:xfrm>
          <a:prstGeom prst="rect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v0.5.x  ·  iOS 16+  ·  iPhone &amp; iPad  ·  Swift 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4389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 INTRO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WHAT IT 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Paladala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一个完全用 SwiftUI 重写的 iOS B 站客户端,基于 B 站公开 API,聚焦现代 Apple 平台的设计语言与播放体验.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38404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Android 端 BiliPai 迁移重写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41148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纯公开 API,无破解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43891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MIT, 完全开源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691640"/>
            <a:ext cx="3611880" cy="868680"/>
          </a:xfrm>
          <a:prstGeom prst="roundRect">
            <a:avLst>
              <a:gd name="adj" fmla="val 14737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691640"/>
            <a:ext cx="91440" cy="868680"/>
          </a:xfrm>
          <a:prstGeom prst="rect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8013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9842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SwiftUI 原生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22951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iPhone 5-tab + iPad NavigationSplitView;无 Storyboard,无 XIB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697480"/>
            <a:ext cx="3611880" cy="868680"/>
          </a:xfrm>
          <a:prstGeom prst="roundRect">
            <a:avLst>
              <a:gd name="adj" fmla="val 14737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697480"/>
            <a:ext cx="91440" cy="868680"/>
          </a:xfrm>
          <a:prstGeom prst="rect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072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4F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99008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站公开接口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0" y="33009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匿名推荐 / 热门 / 搜索 / 视频详情 / 播放地址 / 直播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703320"/>
            <a:ext cx="3611880" cy="868680"/>
          </a:xfrm>
          <a:prstGeom prst="roundRect">
            <a:avLst>
              <a:gd name="adj" fmla="val 14737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703320"/>
            <a:ext cx="91440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81304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GLASS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9959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iOS 26 玻璃优先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46320" y="430682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iOS 26 用真 GlassEffectContainer;旧版降级 ultraThinMaterial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29200"/>
            <a:ext cx="9144000" cy="914"/>
          </a:xfrm>
          <a:prstGeom prst="rect">
            <a:avLst/>
          </a:prstGeom>
          <a:solidFill>
            <a:srgbClr val="2A2D3A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PALADALA  /  01  WHAT IT 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754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4F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PROBLEMS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解决什么问题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iOS 端长期缺乏一个既现代,又尊重用户,又覆盖完整使用场景的 B 站客户端.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514600" cy="2743200"/>
          </a:xfrm>
          <a:prstGeom prst="roundRect">
            <a:avLst>
              <a:gd name="adj" fmla="val 5818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2514600" cy="54864"/>
          </a:xfrm>
          <a:prstGeom prst="rect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76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F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325880" y="2286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iOS 客户端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926080"/>
            <a:ext cx="2057400" cy="9144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200400"/>
            <a:ext cx="73152" cy="73152"/>
          </a:xfrm>
          <a:prstGeom prst="ellipse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首页信息密度高,广告与运营模块臃肿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" y="3749040"/>
            <a:ext cx="73152" cy="73152"/>
          </a:xfrm>
          <a:prstGeom prst="ellipse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57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Liquid Glass / 灵动岛级系统集成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" y="4297680"/>
            <a:ext cx="73152" cy="73152"/>
          </a:xfrm>
          <a:prstGeom prst="ellipse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无法离线缓存原始 DASH 流,只能缓存分片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63240" y="2011680"/>
            <a:ext cx="2514600" cy="2743200"/>
          </a:xfrm>
          <a:prstGeom prst="roundRect">
            <a:avLst>
              <a:gd name="adj" fmla="val 5818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63240" y="2011680"/>
            <a:ext cx="2514600" cy="54864"/>
          </a:xfrm>
          <a:prstGeom prst="rect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176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3931920" y="2286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BiliPai (Android)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91840" y="2926080"/>
            <a:ext cx="2057400" cy="9144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0128" y="3200400"/>
            <a:ext cx="73152" cy="73152"/>
          </a:xfrm>
          <a:prstGeom prst="ellipse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功能成熟,但只服务 Android,无法触达 iOS 用户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3749040"/>
            <a:ext cx="73152" cy="73152"/>
          </a:xfrm>
          <a:prstGeom prst="ellipse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657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Compose / MD3 设计语言与 Apple HIG 错位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4297680"/>
            <a:ext cx="73152" cy="73152"/>
          </a:xfrm>
          <a:prstGeom prst="ellipse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iOS 专属能力 (Live Activity / SharePlay / Intents) 缺失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2011680"/>
            <a:ext cx="2514600" cy="2743200"/>
          </a:xfrm>
          <a:prstGeom prst="roundRect">
            <a:avLst>
              <a:gd name="adj" fmla="val 5818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0" y="2011680"/>
            <a:ext cx="25146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176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6537960" y="2286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其他第三方 / AI 工具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897880" y="2926080"/>
            <a:ext cx="2057400" cy="9144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16168" y="3200400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多数仅做 AI 总结,字幕或下载,没有完整播放链路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16168" y="3749040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3657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 B 站使用条款,或暗藏追踪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16168" y="4297680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Apple 平台深度集成,体验碎片化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5029200"/>
            <a:ext cx="9144000" cy="914"/>
          </a:xfrm>
          <a:prstGeom prst="rect">
            <a:avLst/>
          </a:prstGeom>
          <a:solidFill>
            <a:srgbClr val="2A2D3A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PALADALA  /  02  PROBLEMS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0" y="4754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PHILOSOPHY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设计理念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四项原则贯穿整个项目:平台原生,用户优先,长期可维护,社区驱动.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840480" cy="1325880"/>
          </a:xfrm>
          <a:prstGeom prst="roundRect">
            <a:avLst>
              <a:gd name="adj" fmla="val 9655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7627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45920" y="2212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平台原生优先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45920" y="2633472"/>
            <a:ext cx="548640" cy="27432"/>
          </a:xfrm>
          <a:prstGeom prst="rect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432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iPhone 走 TabView,iPad 走 NavigationSplitView;iOS 26 启用真 Liquid Glass,老系统降级到 Material 3.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011680"/>
            <a:ext cx="3840480" cy="1325880"/>
          </a:xfrm>
          <a:prstGeom prst="roundRect">
            <a:avLst>
              <a:gd name="adj" fmla="val 9655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17627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577840" y="2212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SwiftUI 优先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577840" y="2633472"/>
            <a:ext cx="548640" cy="27432"/>
          </a:xfrm>
          <a:prstGeom prst="rect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7432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 SwiftUI,无 Storyboard / XIB / WebView;UI 与业务逻辑统一在 View 与 ViewModel 层.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840480" cy="1325880"/>
          </a:xfrm>
          <a:prstGeom prst="roundRect">
            <a:avLst>
              <a:gd name="adj" fmla="val 9655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5935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64592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Swift 6 严格并发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645920" y="4050792"/>
            <a:ext cx="54864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605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 strict concurrency,所有模型 : Sendable,所有 IO 用 actor / TaskGroup,无任何 @unchecked Sendable.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429000"/>
            <a:ext cx="3840480" cy="1325880"/>
          </a:xfrm>
          <a:prstGeom prst="roundRect">
            <a:avLst>
              <a:gd name="adj" fmla="val 9655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35935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577840" y="3630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隐私友好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577840" y="4050792"/>
            <a:ext cx="548640" cy="274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1605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只走 B 站公开 API;登录走官方扫码协议;无埋点,无第三方追踪;支持离线优先.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5029200"/>
            <a:ext cx="9144000" cy="914"/>
          </a:xfrm>
          <a:prstGeom prst="rect">
            <a:avLst/>
          </a:prstGeom>
          <a:solidFill>
            <a:srgbClr val="2A2D3A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PALADALA  /  03  PHILOSOPHY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754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三层结构:UI Layer 一致对外,Repository 隔离数据源,Service Layer 封装跨切面能力.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7726680" cy="822960"/>
          </a:xfrm>
          <a:prstGeom prst="roundRect">
            <a:avLst>
              <a:gd name="adj" fmla="val 13333"/>
            </a:avLst>
          </a:prstGeom>
          <a:solidFill>
            <a:srgbClr val="3A1F2A"/>
          </a:solidFill>
          <a:ln w="6350">
            <a:solidFill>
              <a:srgbClr val="FB7299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91440" cy="822960"/>
          </a:xfrm>
          <a:prstGeom prst="rect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SwiftUI + AVKit + Liquid Glass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2194560"/>
            <a:ext cx="9144" cy="4572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121408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Tab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432304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Home / Dynamic / Live / Music / Profile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50080" y="2121408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VideoDetail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50080" y="2432304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AVPlayer 三态 (inline / 浮窗 / 全屏)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94120" y="2121408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Onboarding + Login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4120" y="2432304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 + 扫码登录 sheet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7726680" cy="822960"/>
          </a:xfrm>
          <a:prstGeom prst="roundRect">
            <a:avLst>
              <a:gd name="adj" fmla="val 13333"/>
            </a:avLst>
          </a:prstGeom>
          <a:solidFill>
            <a:srgbClr val="15303A"/>
          </a:solidFill>
          <a:ln w="6350">
            <a:solidFill>
              <a:srgbClr val="4FC1E9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26080"/>
            <a:ext cx="91440" cy="822960"/>
          </a:xfrm>
          <a:prstGeom prst="rect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F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383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PaladalaRepository + ViewModel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68880" y="3108960"/>
            <a:ext cx="9144" cy="4572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035808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PaladalaRepository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3346704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 API / Download / SponsorBlock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50080" y="3035808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ViewModel (LoadState)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50080" y="3346704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isLoading / error / value 四态机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94120" y="3035808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AppRouter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4120" y="3346704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navigationDestination + deep link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7726680" cy="822960"/>
          </a:xfrm>
          <a:prstGeom prst="roundRect">
            <a:avLst>
              <a:gd name="adj" fmla="val 13333"/>
            </a:avLst>
          </a:prstGeom>
          <a:solidFill>
            <a:srgbClr val="241A3A"/>
          </a:solidFill>
          <a:ln w="635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840480"/>
            <a:ext cx="91440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931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4297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Storage / Playback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68880" y="4023360"/>
            <a:ext cx="9144" cy="4572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3950208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BilibiliAPIClient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06040" y="4261104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/ 热门 / 搜索 / 详情 / 直播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50080" y="3950208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LocalHLSProxyServer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50080" y="4261104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HLS 代理 + DASH/SIDX 重组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94120" y="3950208"/>
            <a:ext cx="170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DownloadManager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94120" y="4261104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离线下载 + 断点续传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5029200"/>
            <a:ext cx="9144000" cy="914"/>
          </a:xfrm>
          <a:prstGeom prst="rect">
            <a:avLst/>
          </a:prstGeom>
          <a:solidFill>
            <a:srgbClr val="2A2D3A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PALADALA  /  04  ARCHITECTURE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0" y="4754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CAPABILITIES -- PLAYBACK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关键能力 -- 播放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围绕"看视频"这件事,补齐 B 站官方客户端欠缺的播放链路.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514600" cy="1298448"/>
          </a:xfrm>
          <a:prstGeom prst="roundRect">
            <a:avLst>
              <a:gd name="adj" fmla="val 985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19456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1945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AVPlayer 内核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6700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AVPlayerViewController inline + 浮窗 + 全屏三态;本地 HLS 代理 + DASH/SIDX 重组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3240" y="2011680"/>
            <a:ext cx="2514600" cy="1298448"/>
          </a:xfrm>
          <a:prstGeom prst="roundRect">
            <a:avLst>
              <a:gd name="adj" fmla="val 985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219456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21945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画质 / 字幕 / 弹幕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64408" y="26700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画质多档切换;原生字幕轨道;可关闭弹幕叠层;本地缓存秒开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2011680"/>
            <a:ext cx="2514600" cy="1298448"/>
          </a:xfrm>
          <a:prstGeom prst="roundRect">
            <a:avLst>
              <a:gd name="adj" fmla="val 985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70448" y="219456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1945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站 AI 视频总结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70448" y="26700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视频详情直接挂载 B 站官方 AI 总结 API,章节跳转,文本可复制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47288"/>
            <a:ext cx="2514600" cy="1298448"/>
          </a:xfrm>
          <a:prstGeom prst="roundRect">
            <a:avLst>
              <a:gd name="adj" fmla="val 985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3630168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6301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25880" y="36301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SponsorBlock 拦截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" y="410565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SponsorBlock 服务,自动跳过恰饭 / 自我介绍 / 片尾,统计累计节省时长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63240" y="3447288"/>
            <a:ext cx="2514600" cy="1298448"/>
          </a:xfrm>
          <a:prstGeom prst="roundRect">
            <a:avLst>
              <a:gd name="adj" fmla="val 985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3630168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6301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&lt;&gt;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36301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手势交互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64408" y="410565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双击左/中/右 ±10s / 点赞;长按 0.4s 2x 速播;竖屏浮窗拖动可关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447288"/>
            <a:ext cx="2514600" cy="1298448"/>
          </a:xfrm>
          <a:prstGeom prst="roundRect">
            <a:avLst>
              <a:gd name="adj" fmla="val 985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70448" y="3630168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0448" y="36301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7960" y="36301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稳播优选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70448" y="410565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CDN 区域优选 + 手动检测 + 失败 fallback,弱网下自动切到备用节点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29200"/>
            <a:ext cx="9144000" cy="914"/>
          </a:xfrm>
          <a:prstGeom prst="rect">
            <a:avLst/>
          </a:prstGeom>
          <a:solidFill>
            <a:srgbClr val="2A2D3A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PALADALA  /  05  CAPABILITIES  --  PLAYBACK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4754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4F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CAPABILITIES --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关键能力 -- 体验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iOS 用户拿到完整的 Apple 平台集成能力,而不只是一个套壳网页.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514600" cy="1298448"/>
          </a:xfrm>
          <a:prstGeom prst="roundRect">
            <a:avLst>
              <a:gd name="adj" fmla="val 985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19456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1945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2588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Liquid Glass 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6700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iOS 26 用真 GlassEffectContainer;旧系统降级 ultraThinMaterial;统一设计 token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3240" y="2011680"/>
            <a:ext cx="2514600" cy="1298448"/>
          </a:xfrm>
          <a:prstGeom prst="roundRect">
            <a:avLst>
              <a:gd name="adj" fmla="val 985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219456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21945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iPad 真分栏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64408" y="26700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NavigationSplitView 4 tab + sidebar user card;横竖屏自适应,不走"放大版手机"路线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2011680"/>
            <a:ext cx="2514600" cy="1298448"/>
          </a:xfrm>
          <a:prstGeom prst="roundRect">
            <a:avLst>
              <a:gd name="adj" fmla="val 985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70448" y="2194560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1945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796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Intents + Deep Link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70448" y="26700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Siri 打开 / 搜索 / 继续播放 / 稍后再看;paladala:// 完整 deep link 矩阵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47288"/>
            <a:ext cx="2514600" cy="1298448"/>
          </a:xfrm>
          <a:prstGeom prst="roundRect">
            <a:avLst>
              <a:gd name="adj" fmla="val 985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3630168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6301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25880" y="36301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离线下载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" y="410565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DASH/SIDX 重组 + 本地 HLS 代理;支持断点续传;离线视频可独立播放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63240" y="3447288"/>
            <a:ext cx="2514600" cy="1298448"/>
          </a:xfrm>
          <a:prstGeom prst="roundRect">
            <a:avLst>
              <a:gd name="adj" fmla="val 985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3630168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6301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31920" y="36301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小窗浮窗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64408" y="410565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MiniPlayerOverlay 可拖动,可展开回内嵌;Live Activity 锁屏继续直播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447288"/>
            <a:ext cx="2514600" cy="1298448"/>
          </a:xfrm>
          <a:prstGeom prst="roundRect">
            <a:avLst>
              <a:gd name="adj" fmla="val 985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70448" y="3630168"/>
            <a:ext cx="548640" cy="384048"/>
          </a:xfrm>
          <a:prstGeom prst="roundRect">
            <a:avLst>
              <a:gd name="adj" fmla="val 19048"/>
            </a:avLst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70448" y="36301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36301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 + 音乐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70448" y="410565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直播独立 Tab + 互动;音乐 Tab 走 AVPlayer 纯音频 + 同步歌词滚动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29200"/>
            <a:ext cx="9144000" cy="914"/>
          </a:xfrm>
          <a:prstGeom prst="rect">
            <a:avLst/>
          </a:prstGeom>
          <a:solidFill>
            <a:srgbClr val="2A2D3A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PALADALA  /  06  CAPABILITIES  --  EXPERIENCE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4754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四个真实使用场景,展示 Paladala 在日常追番,看片,跨设备,听歌上的完整闭环.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874520" cy="2606040"/>
          </a:xfrm>
          <a:prstGeom prst="roundRect">
            <a:avLst>
              <a:gd name="adj" fmla="val 682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1874520" cy="54864"/>
          </a:xfrm>
          <a:prstGeom prst="rect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762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6700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首页追番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218688"/>
            <a:ext cx="548640" cy="27432"/>
          </a:xfrm>
          <a:prstGeom prst="rect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383280"/>
            <a:ext cx="164592" cy="164592"/>
          </a:xfrm>
          <a:prstGeom prst="ellipse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83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Home Tab 5 tab 入口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75888"/>
            <a:ext cx="164592" cy="164592"/>
          </a:xfrm>
          <a:prstGeom prst="ellipse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758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80" y="3630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categoryStrip 横滚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968496"/>
            <a:ext cx="164592" cy="164592"/>
          </a:xfrm>
          <a:prstGeom prst="ellipse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68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68680" y="39227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视频总结可展开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261104"/>
            <a:ext cx="164592" cy="164592"/>
          </a:xfrm>
          <a:prstGeom prst="ellipse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611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8680" y="42153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tap 进 VideoDetail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2011680"/>
            <a:ext cx="1874520" cy="2606040"/>
          </a:xfrm>
          <a:prstGeom prst="roundRect">
            <a:avLst>
              <a:gd name="adj" fmla="val 682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23160" y="2011680"/>
            <a:ext cx="1874520" cy="54864"/>
          </a:xfrm>
          <a:prstGeom prst="rect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21762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F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2606040" y="26700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06040" y="28529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通勤缓存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606040" y="3218688"/>
            <a:ext cx="548640" cy="27432"/>
          </a:xfrm>
          <a:prstGeom prst="rect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06040" y="3383280"/>
            <a:ext cx="164592" cy="164592"/>
          </a:xfrm>
          <a:prstGeom prst="ellipse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383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834640" y="3337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详情页下载 chip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06040" y="3675888"/>
            <a:ext cx="164592" cy="164592"/>
          </a:xfrm>
          <a:prstGeom prst="ellipse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36758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834640" y="3630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DASH/SIDX 重组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06040" y="3968496"/>
            <a:ext cx="164592" cy="164592"/>
          </a:xfrm>
          <a:prstGeom prst="ellipse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3968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34640" y="39227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HLS 代理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06040" y="4261104"/>
            <a:ext cx="164592" cy="164592"/>
          </a:xfrm>
          <a:prstGeom prst="ellipse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42611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834640" y="42153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离线秒开,无网可看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89120" y="2011680"/>
            <a:ext cx="1874520" cy="2606040"/>
          </a:xfrm>
          <a:prstGeom prst="roundRect">
            <a:avLst>
              <a:gd name="adj" fmla="val 682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389120" y="2011680"/>
            <a:ext cx="18745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21762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4572000" y="26700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0" y="28529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跨设备接力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0" y="3218688"/>
            <a:ext cx="54864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3383280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3383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00600" y="3337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iPhone 看 30s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367588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36758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00600" y="3630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进度自动持久化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0" y="3968496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0" y="3968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00600" y="39227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iPad ResumePromptSheet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4261104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0" y="42611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800600" y="42153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iPad 续播 + 浮窗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55080" y="2011680"/>
            <a:ext cx="1874520" cy="2606040"/>
          </a:xfrm>
          <a:prstGeom prst="roundRect">
            <a:avLst>
              <a:gd name="adj" fmla="val 6829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355080" y="2011680"/>
            <a:ext cx="187452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37960" y="21762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63" name="Text 61"/>
          <p:cNvSpPr/>
          <p:nvPr/>
        </p:nvSpPr>
        <p:spPr>
          <a:xfrm>
            <a:off x="6537960" y="26700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537960" y="28529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后台听音乐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537960" y="3218688"/>
            <a:ext cx="548640" cy="274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37960" y="338328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3383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766560" y="3337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Music Tab 列表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537960" y="367588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37960" y="36758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766560" y="3630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切后台继续播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537960" y="3968496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37960" y="3968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766560" y="39227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锁屏封面 + 控制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537960" y="4261104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37960" y="42611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766560" y="42153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关闭应用即停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0" y="5029200"/>
            <a:ext cx="9144000" cy="914"/>
          </a:xfrm>
          <a:prstGeom prst="rect">
            <a:avLst/>
          </a:prstGeom>
          <a:solidFill>
            <a:srgbClr val="2A2D3A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PALADALA  /  07  USE CASES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8229600" y="4754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VS AI TOOLS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和现有 AI 工具的差异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工具遍地都是,但要的是"完整客户端 + AI 增强",而不是"只做总结"或"只跑 AI".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7726680" cy="365760"/>
          </a:xfrm>
          <a:prstGeom prst="roundRect">
            <a:avLst>
              <a:gd name="adj" fmla="val 20000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20116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2011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72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Paladala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011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iOS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2011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BiliPai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011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单独工具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7726680" cy="9144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23160"/>
            <a:ext cx="7726680" cy="274320"/>
          </a:xfrm>
          <a:prstGeom prst="rect">
            <a:avLst/>
          </a:prstGeom>
          <a:solidFill>
            <a:srgbClr val="1B1D27">
              <a:alpha val="40000"/>
            </a:srgbClr>
          </a:solidFill>
          <a:ln w="12700">
            <a:solidFill>
              <a:srgbClr val="1B1D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42316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完整播放体验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74520" y="247802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24780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12264" y="24231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AVPlayer 三态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247802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4780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12464" y="24231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但 UI 臃肿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74920" y="247802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4780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12664" y="24231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Android 限定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75120" y="247802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4780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12864" y="24231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无播放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" y="269748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视频总结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74520" y="275234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74520" y="27523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12264" y="26974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原生集成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275234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7523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712464" y="26974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部分场景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74920" y="275234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27523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12664" y="26974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75120" y="275234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27523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12864" y="26974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唯一卖点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2971800"/>
            <a:ext cx="7726680" cy="274320"/>
          </a:xfrm>
          <a:prstGeom prst="rect">
            <a:avLst/>
          </a:prstGeom>
          <a:solidFill>
            <a:srgbClr val="1B1D27">
              <a:alpha val="40000"/>
            </a:srgbClr>
          </a:solidFill>
          <a:ln w="12700">
            <a:solidFill>
              <a:srgbClr val="1B1D27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297180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 / 缓存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874520" y="302666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74520" y="30266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112264" y="29718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DASH 本地代理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74720" y="302666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30266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712464" y="29718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仅分片缓存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74920" y="302666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30266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12664" y="29718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675120" y="302666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302666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912864" y="29718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1792" y="324612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iOS 26 Liquid Glass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74520" y="330098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74520" y="33009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112264" y="32461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真 GlassEffect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474720" y="330098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0" y="33009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712464" y="32461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074920" y="330098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74920" y="33009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312664" y="32461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675120" y="330098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75120" y="33009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912864" y="32461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3520440"/>
            <a:ext cx="7726680" cy="274320"/>
          </a:xfrm>
          <a:prstGeom prst="rect">
            <a:avLst/>
          </a:prstGeom>
          <a:solidFill>
            <a:srgbClr val="1B1D27">
              <a:alpha val="40000"/>
            </a:srgbClr>
          </a:solidFill>
          <a:ln w="12700">
            <a:solidFill>
              <a:srgbClr val="1B1D27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" y="352044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跨设备 (iPhone / iPad)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874520" y="357530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74520" y="35753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2112264" y="35204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独立分栏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474720" y="357530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74720" y="35753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712464" y="35204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仅缩放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074920" y="357530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74920" y="35753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312664" y="35204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仅 Android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675120" y="357530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675120" y="35753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912864" y="35204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21792" y="379476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Siri / App Intents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874520" y="384962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874520" y="38496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2112264" y="37947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全套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474720" y="384962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474720" y="38496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712464" y="37947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074920" y="384962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74920" y="38496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312664" y="37947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675120" y="384962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675120" y="38496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912864" y="37947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57200" y="4069080"/>
            <a:ext cx="7726680" cy="274320"/>
          </a:xfrm>
          <a:prstGeom prst="rect">
            <a:avLst/>
          </a:prstGeom>
          <a:solidFill>
            <a:srgbClr val="1B1D27">
              <a:alpha val="40000"/>
            </a:srgbClr>
          </a:solidFill>
          <a:ln w="12700">
            <a:solidFill>
              <a:srgbClr val="1B1D27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1792" y="406908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 / 开源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1874520" y="412394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874520" y="41239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2112264" y="40690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MIT, 公开 API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474720" y="412394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474720" y="41239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3712464" y="40690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闭源 + 埋点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074920" y="412394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074920" y="41239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5312664" y="40690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Apache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675120" y="4123944"/>
            <a:ext cx="18288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675120" y="41239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6912864" y="40690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多为闭源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0" y="5029200"/>
            <a:ext cx="9144000" cy="914"/>
          </a:xfrm>
          <a:prstGeom prst="rect">
            <a:avLst/>
          </a:prstGeom>
          <a:solidFill>
            <a:srgbClr val="2A2D3A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PALADALA  /  08  VS AI TOOLS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8229600" y="4754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FB7299"/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现状与下一步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v0.5.x 已经覆盖核心播放 / 浏览 / 离线闭环,下面三栏是当前路线图.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514600" cy="2560320"/>
          </a:xfrm>
          <a:prstGeom prst="roundRect">
            <a:avLst>
              <a:gd name="adj" fmla="val 5091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25146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761488"/>
            <a:ext cx="548640" cy="274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95351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880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SwiftUI 5 tab + iPad 真分栏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" y="317296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099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iOS 26 Liquid Glass 真玻璃效果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3392424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319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Swift 6 严格并发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611880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538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AVPlayer 播放三态 (inline/浮窗/全屏)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" y="3831336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758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SponsorBlock 拦截 + 上报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4050792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977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LocalHLSProxyServer + 离线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" y="4270248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197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站官方 AI 视频总结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4489704"/>
            <a:ext cx="64008" cy="640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416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Intents + deep link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63240" y="2011680"/>
            <a:ext cx="2514600" cy="2560320"/>
          </a:xfrm>
          <a:prstGeom prst="roundRect">
            <a:avLst>
              <a:gd name="adj" fmla="val 5091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063240" y="2011680"/>
            <a:ext cx="2514600" cy="54864"/>
          </a:xfrm>
          <a:prstGeom prst="rect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1488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4F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4612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246120" y="2761488"/>
            <a:ext cx="548640" cy="27432"/>
          </a:xfrm>
          <a:prstGeom prst="rect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64408" y="2953512"/>
            <a:ext cx="64008" cy="64008"/>
          </a:xfrm>
          <a:prstGeom prst="ellipse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0712" y="2880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iOS 26 底栏滚动玻璃 / 折射细节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64408" y="3172968"/>
            <a:ext cx="64008" cy="64008"/>
          </a:xfrm>
          <a:prstGeom prst="ellipse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3099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视频返回阴影与共享转场打磨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64408" y="3392424"/>
            <a:ext cx="64008" cy="64008"/>
          </a:xfrm>
          <a:prstGeom prst="ellipse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0712" y="3319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 / 浅色 / Liquid / MD3 主题切换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64408" y="3611880"/>
            <a:ext cx="64008" cy="64008"/>
          </a:xfrm>
          <a:prstGeom prst="ellipse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10712" y="3538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 / 视频 / 评论 skeleton 节奏统一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64408" y="3831336"/>
            <a:ext cx="64008" cy="64008"/>
          </a:xfrm>
          <a:prstGeom prst="ellipse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10712" y="3758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FFmpeg 解码 / 播放测试集成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64408" y="4050792"/>
            <a:ext cx="64008" cy="64008"/>
          </a:xfrm>
          <a:prstGeom prst="ellipse">
            <a:avLst/>
          </a:prstGeom>
          <a:solidFill>
            <a:srgbClr val="4FC1E9"/>
          </a:solidFill>
          <a:ln w="12700">
            <a:solidFill>
              <a:srgbClr val="4FC1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10712" y="3977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Bangumi 番剧 / 影视 API 完善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69280" y="2011680"/>
            <a:ext cx="2514600" cy="2560320"/>
          </a:xfrm>
          <a:prstGeom prst="roundRect">
            <a:avLst>
              <a:gd name="adj" fmla="val 5091"/>
            </a:avLst>
          </a:prstGeom>
          <a:solidFill>
            <a:srgbClr val="1B1D27"/>
          </a:solidFill>
          <a:ln w="6350">
            <a:solidFill>
              <a:srgbClr val="2A2D3A"/>
            </a:solidFill>
            <a:prstDash val="solid"/>
          </a:ln>
          <a:effectLst>
            <a:outerShdw sx="100000" sy="100000" kx="0" ky="0" algn="bl" rotWithShape="0" blurRad="152400" dist="0" dir="162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669280" y="2011680"/>
            <a:ext cx="25146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0" y="21488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5216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852160" y="2761488"/>
            <a:ext cx="54864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70448" y="2953512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16752" y="2880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完整弹幕叠层渲染 (现在仅基础)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70448" y="3172968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16752" y="3099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认证态历史 / 关注 / 收藏同步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870448" y="3392424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16752" y="3319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WatchKit / iPad 多任务分屏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870448" y="3611880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16752" y="3538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VisionOS 空间播放实验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870448" y="3831336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16752" y="3758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Store 上架可行性评估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870448" y="4050792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16752" y="3977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5F6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社区协作 / Issue 模板 / CI 公开发布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4663440"/>
            <a:ext cx="7680960" cy="292608"/>
          </a:xfrm>
          <a:prstGeom prst="roundRect">
            <a:avLst>
              <a:gd name="adj" fmla="val 15625"/>
            </a:avLst>
          </a:prstGeom>
          <a:solidFill>
            <a:srgbClr val="FB7299">
              <a:alpha val="20000"/>
            </a:srgbClr>
          </a:solidFill>
          <a:ln w="12700">
            <a:solidFill>
              <a:srgbClr val="FB729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6634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 /  darrenintr/pure-bilibili-rethinking  /  MIT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0" y="5029200"/>
            <a:ext cx="9144000" cy="914"/>
          </a:xfrm>
          <a:prstGeom prst="rect">
            <a:avLst/>
          </a:prstGeom>
          <a:solidFill>
            <a:srgbClr val="2A2D3A"/>
          </a:solidFill>
          <a:ln w="6350">
            <a:solidFill>
              <a:srgbClr val="2A2D3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PALADALA  /  09  ROADMAP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229600" y="4754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7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r"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darrenintr/pure-bilibili-rethinking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Paladala 项目介绍</dc:title>
  <dc:subject>PptxGenJS Presentation</dc:subject>
  <dc:creator>Paladala</dc:creator>
  <cp:lastModifiedBy>Paladala</cp:lastModifiedBy>
  <cp:revision>1</cp:revision>
  <dcterms:created xsi:type="dcterms:W3CDTF">2026-07-14T16:40:42Z</dcterms:created>
  <dcterms:modified xsi:type="dcterms:W3CDTF">2026-07-14T16:40:42Z</dcterms:modified>
</cp:coreProperties>
</file>